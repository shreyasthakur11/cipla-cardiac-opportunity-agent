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2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E4EEED"/>
                </a:solidFill>
                <a:latin typeface="Calibri"/>
              </a:rPr>
              <a:t>ASCEND SEASON 4  ??  CASE STUDY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75104"/>
            <a:ext cx="6492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Where Cipla can win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in the India Cardiac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67328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B9C6D1"/>
                </a:solidFill>
                <a:latin typeface="Calibri"/>
              </a:rPr>
              <a:t>The full argument: how the agent works, what it found, and what Cipla should do about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87044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AI-enabled prioritisation with integrated trend analytics  ??  MAT February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1572768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300" b="1" i="0">
                <a:solidFill>
                  <a:srgbClr val="E4EEED"/>
                </a:solidFill>
                <a:latin typeface="Georgia"/>
              </a:rPr>
              <a:t>7,452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148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7D8A99"/>
                </a:solidFill>
                <a:latin typeface="Calibri"/>
              </a:rPr>
              <a:t>packs analysed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642616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300" b="1" i="0">
                <a:solidFill>
                  <a:srgbClr val="E4EEED"/>
                </a:solidFill>
                <a:latin typeface="Georgia"/>
              </a:rPr>
              <a:t>108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32186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7D8A99"/>
                </a:solidFill>
                <a:latin typeface="Calibri"/>
              </a:rPr>
              <a:t>opportunity spaces scored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71246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300" b="1" i="0">
                <a:solidFill>
                  <a:srgbClr val="E4EEED"/>
                </a:solidFill>
                <a:latin typeface="Georgia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42885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7D8A99"/>
                </a:solidFill>
                <a:latin typeface="Calibri"/>
              </a:rPr>
              <a:t>cited external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78231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300" b="1" i="0">
                <a:solidFill>
                  <a:srgbClr val="E4EEED"/>
                </a:solidFill>
                <a:latin typeface="Georg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53583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7D8A99"/>
                </a:solidFill>
                <a:latin typeface="Calibri"/>
              </a:rPr>
              <a:t>numbers written by the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HOW THE AGENT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446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The model never calculates a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8727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Reasoning and arithmetic are separated, and a verifier stands between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3511296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86000"/>
            <a:ext cx="50292" cy="1627632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505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F6F6B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450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C2733"/>
                </a:solidFill>
                <a:latin typeface="Georgia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7,452 packs validated against a fixed schema, normalised into a warehouse with a SHA-256 of the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2286000"/>
            <a:ext cx="3511296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2286000"/>
            <a:ext cx="50292" cy="1627632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4505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F6F6B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2450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C2733"/>
                </a:solidFill>
                <a:latin typeface="Georgia"/>
              </a:rPr>
              <a:t>Construct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834640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108 opportunity spaces across six levels, including molecule franchises that span the reporting hierarchy.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4" y="2286000"/>
            <a:ext cx="3511296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4" y="2286000"/>
            <a:ext cx="50292" cy="1627632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4505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F6F6B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2450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C2733"/>
                </a:solidFill>
                <a:latin typeface="Georgia"/>
              </a:rP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834640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Four pillars from percentile-ranked metrics, with a right-to-win gate. Deterministic and reproducible.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169664"/>
            <a:ext cx="3511296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169664"/>
            <a:ext cx="50292" cy="1627632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33425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F6F6B"/>
                </a:solidFill>
                <a:latin typeface="Georgi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3342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C2733"/>
                </a:solidFill>
                <a:latin typeface="Georgia"/>
              </a:rPr>
              <a:t>Retrieve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18304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14 cited external signals linked to spaces, bounded and centred so universal evidence moves nothing.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4256" y="4169664"/>
            <a:ext cx="3511296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4256" y="4169664"/>
            <a:ext cx="50292" cy="1627632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433425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F6F6B"/>
                </a:solidFill>
                <a:latin typeface="Georgia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75504" y="43342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C2733"/>
                </a:solidFill>
                <a:latin typeface="Georgia"/>
              </a:rPr>
              <a:t>Narrate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4718304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The model plans, calls eleven tools and writes prose over a finished evidence pack.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1584" y="4169664"/>
            <a:ext cx="3511296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1584" y="4169664"/>
            <a:ext cx="50292" cy="1627632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33425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F6F6B"/>
                </a:solidFill>
                <a:latin typeface="Georgia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2832" y="43342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C2733"/>
                </a:solidFill>
                <a:latin typeface="Georgia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4718304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Every number in the draft is matched against the evidence. Unmatched figures are rejected and rewritten.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459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 i="0">
                <a:solidFill>
                  <a:srgbClr val="7D8A99"/>
                </a:solidFill>
                <a:latin typeface="Calibri"/>
              </a:rPr>
              <a:t>Guardrails: scope control before any tool runs, numeric grounding and citation validation on the draft, injection neutralisation on retrieved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READING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446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Seven of thirteen points of growth are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8727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The organisers' glossary is explicit: constant-price MAT measures real demand, and quantity confirms it.</a:t>
            </a:r>
          </a:p>
        </p:txBody>
      </p:sp>
      <p:pic>
        <p:nvPicPr>
          <p:cNvPr id="7" name="Picture 6" descr="growth-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39696"/>
            <a:ext cx="6309360" cy="36120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2194560"/>
            <a:ext cx="4617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4677D"/>
                </a:solidFill>
                <a:latin typeface="Calibri"/>
              </a:rPr>
              <a:t>Price gains do not compound the way prescription volume does, and a material part of the essential cardiovascular basket sits under administered ceiling prices. A space growing on value but flat on volume is being repriced, not growing.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4677D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4677D"/>
                </a:solidFill>
                <a:latin typeface="Calibri"/>
              </a:rPr>
              <a:t>So reported value growth carries no weight at all in the future-potential pillar. It appears in market attractiveness, where it belongs as a measure of today.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4443984"/>
            <a:ext cx="4617720" cy="1481328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4443984"/>
            <a:ext cx="50292" cy="14813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460857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B4552D"/>
                </a:solidFill>
                <a:latin typeface="Calibri"/>
              </a:rPr>
              <a:t>WHAT THIS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4882896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AHT diuretic combinations reports +7.2% growth. Real demand is -1.0% and volume -0.8%. Ranking on the headline number alone would have made it look defensible.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THE STARTING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446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Cipla's largest positions are the ones it is 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8727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Five umbrella franchises carry the cardiac business. One of them grows faster than the market.</a:t>
            </a:r>
          </a:p>
        </p:txBody>
      </p:sp>
      <p:pic>
        <p:nvPicPr>
          <p:cNvPr id="7" name="Picture 6" descr="cipla-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39696"/>
            <a:ext cx="7589520" cy="37028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85632" y="219456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F6F6B"/>
                </a:solidFill>
                <a:latin typeface="Calibri"/>
              </a:rPr>
              <a:t>FRANCHISES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523744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Brand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5832" y="2523744"/>
            <a:ext cx="7530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8867" y="2523744"/>
            <a:ext cx="8471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85632" y="2852928"/>
            <a:ext cx="3200400" cy="12801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2944368"/>
            <a:ext cx="14904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Amlopres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5832" y="2944368"/>
            <a:ext cx="6433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148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8867" y="2944368"/>
            <a:ext cx="7374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+3.3%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328416"/>
            <a:ext cx="14904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Atorlip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85832" y="3328416"/>
            <a:ext cx="6433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8867" y="3328416"/>
            <a:ext cx="7374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+6.2%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3712464"/>
            <a:ext cx="14904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Rosulip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5832" y="3712464"/>
            <a:ext cx="6433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8867" y="3712464"/>
            <a:ext cx="7374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+18.1%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4096512"/>
            <a:ext cx="14904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Cresar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4096512"/>
            <a:ext cx="6433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8867" y="4096512"/>
            <a:ext cx="7374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-5.4%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4480560"/>
            <a:ext cx="14904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Fenolip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5832" y="4480560"/>
            <a:ext cx="6433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8867" y="4480560"/>
            <a:ext cx="7374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+14.1%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502920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 i="0">
                <a:solidFill>
                  <a:srgbClr val="54677D"/>
                </a:solidFill>
                <a:latin typeface="Calibri"/>
              </a:rPr>
              <a:t>At 1.68% therapy share and rank 19 of 279, Cipla cannot out-invest the leaders across every sub-segment. Adjacency is the cheapest advantage it 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WHAT THE AGENT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8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Cipla grows at 4.6% in a market growing 13.3%.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Two configurations inside it are winnable.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7843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Ranked on market opportunity, then gated by right to win. The two scores are kept apart so the trade-off stays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21408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700" b="1" i="0">
                <a:solidFill>
                  <a:srgbClr val="1F6F6B"/>
                </a:solidFill>
                <a:latin typeface="Georgia"/>
              </a:rPr>
              <a:t>23,244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96896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INR crore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Cardiac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2121408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700" b="1" i="0">
                <a:solidFill>
                  <a:srgbClr val="54677D"/>
                </a:solidFill>
                <a:latin typeface="Georgia"/>
              </a:rPr>
              <a:t>6.3%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2596896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real demand growth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of 13.3% reported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8496" y="2121408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700" b="1" i="0">
                <a:solidFill>
                  <a:srgbClr val="B4552D"/>
                </a:solidFill>
                <a:latin typeface="Georgia"/>
              </a:rPr>
              <a:t>1.68%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8496" y="2596896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Cipla share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rank 19 of 279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401568"/>
            <a:ext cx="4754880" cy="12801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6118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F6F6B"/>
                </a:solidFill>
                <a:latin typeface="Calibri"/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50208"/>
            <a:ext cx="48920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>Six levels of opportunity space, from segment down to individual molecule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>combinations and cross-hierarchy molecule franchises.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/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>Four pillars: market attractiveness, future potential, competitive headroom,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>and a right-to-win gate built from Cipla's actual estate.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/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>Every figure is computed deterministically. The language model narrates and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>is rejected if it states a number the evidence does not contain.</a:t>
            </a:r>
          </a:p>
        </p:txBody>
      </p:sp>
      <p:pic>
        <p:nvPicPr>
          <p:cNvPr id="16" name="Picture 15" descr="priority-matrix-sub-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883664"/>
            <a:ext cx="5852160" cy="43742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63459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 i="0">
                <a:solidFill>
                  <a:srgbClr val="7D8A99"/>
                </a:solidFill>
                <a:latin typeface="Calibri"/>
              </a:rPr>
              <a:t>Source: Cardiac prescription audit, MAT Feb 2026. Bubble area is market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BEYOND THE REPORTING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8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Some franchises are visible only across the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7843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Summing every pack that contains a molecule, whether plain or combined, exposes clusters no single reporting level shows.</a:t>
            </a:r>
          </a:p>
        </p:txBody>
      </p:sp>
      <p:pic>
        <p:nvPicPr>
          <p:cNvPr id="7" name="Picture 6" descr="growth-vs-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03120"/>
            <a:ext cx="6217920" cy="41313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2157984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F6F6B"/>
                </a:solidFill>
                <a:latin typeface="Calibri"/>
              </a:rPr>
              <a:t>THE CILNIDIPINE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468880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>The molecule appears as a plain calcium channel blocker, in three dual combinations and in two triples. Those sit in different sub-segments, so no row of the standard hierarchy shows the size of the franchise.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931920"/>
            <a:ext cx="216621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15653" y="3931920"/>
            <a:ext cx="8476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3301" y="3931920"/>
            <a:ext cx="8476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0949" y="3931920"/>
            <a:ext cx="8476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HHI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261104"/>
            <a:ext cx="4709160" cy="12801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4352544"/>
            <a:ext cx="20564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Whole franchise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5653" y="4352544"/>
            <a:ext cx="737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2,519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3301" y="4352544"/>
            <a:ext cx="737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+21%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10949" y="4352544"/>
            <a:ext cx="737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1,755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754880"/>
            <a:ext cx="20564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Dual with telmisartan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5653" y="4754880"/>
            <a:ext cx="737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759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3301" y="4754880"/>
            <a:ext cx="737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+28%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10949" y="4754880"/>
            <a:ext cx="737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1,747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5175504"/>
            <a:ext cx="4709160" cy="969264"/>
          </a:xfrm>
          <a:prstGeom prst="rect">
            <a:avLst/>
          </a:prstGeom>
          <a:solidFill>
            <a:srgbClr val="E4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5175504"/>
            <a:ext cx="50292" cy="969264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87184" y="5340096"/>
            <a:ext cx="426110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The question is not whether to enter cilnidipine. It is which layer of the franchise still has share being allocated rather than defended.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8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Prioritise the ezetimibe extension of Rosulip,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and the cilnidipine family entered through Cresar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7843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Both are brand extensions rather than standing starts, which is what makes them reachable inside two years.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12848"/>
            <a:ext cx="5285232" cy="3310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50292" cy="3310128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212848"/>
            <a:ext cx="5285232" cy="841248"/>
          </a:xfrm>
          <a:prstGeom prst="rect">
            <a:avLst/>
          </a:prstGeom>
          <a:solidFill>
            <a:srgbClr val="E4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212848"/>
            <a:ext cx="50292" cy="3310128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1F6F6B"/>
                </a:solidFill>
                <a:latin typeface="Calibri"/>
              </a:rPr>
              <a:t>PRIORITY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96896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 i="0">
                <a:solidFill>
                  <a:srgbClr val="1C2733"/>
                </a:solidFill>
                <a:latin typeface="Georgia"/>
              </a:rPr>
              <a:t>Statin combinations,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 i="0">
                <a:solidFill>
                  <a:srgbClr val="1C2733"/>
                </a:solidFill>
                <a:latin typeface="Georgia"/>
              </a:rPr>
              <a:t>via ezetimibe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18688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Sub-segment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218688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4,154 cr, +17.4%, real +10.3%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666744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666744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HHI 1,080, 143 players, leader 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14800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Cipla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114800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57.9 cr, 1.39%, +15.1%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562856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The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562856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Rosuvastatin + ezetimibe: 183 cr, +88%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010912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Right to 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010912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Rosulip is the fastest-growing Cipla franchise; Rosulip EZ is launched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2212848"/>
            <a:ext cx="5285232" cy="3310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2212848"/>
            <a:ext cx="50292" cy="33101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2212848"/>
            <a:ext cx="5285232" cy="841248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7648" y="2212848"/>
            <a:ext cx="50292" cy="33101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235915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B4552D"/>
                </a:solidFill>
                <a:latin typeface="Calibri"/>
              </a:rPr>
              <a:t>PRIORITY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2596896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 i="0">
                <a:solidFill>
                  <a:srgbClr val="1C2733"/>
                </a:solidFill>
                <a:latin typeface="Georgia"/>
              </a:rPr>
              <a:t>Cilnidipine combinations,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 i="0">
                <a:solidFill>
                  <a:srgbClr val="1C2733"/>
                </a:solidFill>
                <a:latin typeface="Georgia"/>
              </a:rPr>
              <a:t>via Cresar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3218688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Franchise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218688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2,519 cr across plain and combination packs, +21.5%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3666744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Cipla today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666744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0.19% share, 4.8 cr, growing 40%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114800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Where to enter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114800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Not the plain molecule. The dual sits at HHI 1,747; the triples are more open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4562856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The 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562856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Cilnidipine + telmisartan: 759 cr, +28%, real +20%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5010912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Right to win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010912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Cresar carries telmisartan; Cresar LN already sells in this space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6875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F6F6B"/>
                </a:solidFill>
                <a:latin typeface="Calibri"/>
              </a:rPr>
              <a:t>TRADE-OFFS RESOLVED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993892"/>
            <a:ext cx="50292" cy="146304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4360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4677D"/>
                </a:solidFill>
                <a:latin typeface="Calibri"/>
              </a:rPr>
              <a:t>Size against growth. AHT dual combinations is larger at 5,280 cr, but only 4.5 of its 12.6 points of growth is real. Chose real growth.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6259068"/>
            <a:ext cx="50292" cy="146304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208776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4677D"/>
                </a:solidFill>
                <a:latin typeface="Calibri"/>
              </a:rPr>
              <a:t>Growth against competition. Other lipid reducers grows 46% and is 60% held by one company. Chose accessibility.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6524244"/>
            <a:ext cx="50292" cy="146304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647395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4677D"/>
                </a:solidFill>
                <a:latin typeface="Calibri"/>
              </a:rPr>
              <a:t>Attractiveness against right to win. Cilnidipine is larger and scores higher; ezetimibe is winnable sooner. Resolved by sequencing, not by choosing.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THE THREE-TO-FIVE YEAR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446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Which spaces should outperform, and by how much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8727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Growth mean-reverts towards the therapy-area rate. Nothing is projected to sustain its current rate for five years.</a:t>
            </a:r>
          </a:p>
        </p:txBody>
      </p:sp>
      <p:pic>
        <p:nvPicPr>
          <p:cNvPr id="7" name="Picture 6" descr="forecast-out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21408"/>
            <a:ext cx="6675120" cy="33286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219456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F6F6B"/>
                </a:solidFill>
                <a:latin typeface="Calibri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505456"/>
            <a:ext cx="40233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 i="0">
                <a:solidFill>
                  <a:srgbClr val="54677D"/>
                </a:solidFill>
                <a:latin typeface="Calibri"/>
              </a:rPr>
              <a:t>The base rate blends constant-price growth, volume growth, two-year CAGR and three-month momentum, weighted towards demand.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 i="0">
                <a:solidFill>
                  <a:srgbClr val="54677D"/>
                </a:solidFill>
                <a:latin typeface="Calibri"/>
              </a:rPr>
              <a:t/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 i="0">
                <a:solidFill>
                  <a:srgbClr val="54677D"/>
                </a:solidFill>
                <a:latin typeface="Calibri"/>
              </a:rPr>
              <a:t>Excess growth over the market decays 28 per cent a year, the rate is capped, and bull and bear cases shift it by four points.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 i="0">
                <a:solidFill>
                  <a:srgbClr val="54677D"/>
                </a:solidFill>
                <a:latin typeface="Calibri"/>
              </a:rPr>
              <a:t/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 i="0">
                <a:solidFill>
                  <a:srgbClr val="54677D"/>
                </a:solidFill>
                <a:latin typeface="Calibri"/>
              </a:rPr>
              <a:t>These are structured extrapolations from two years of history, not plans, and every projection returns its assumptions alongside the number.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5175504"/>
            <a:ext cx="4023360" cy="969264"/>
          </a:xfrm>
          <a:prstGeom prst="rect">
            <a:avLst/>
          </a:prstGeom>
          <a:solidFill>
            <a:srgbClr val="E4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5175504"/>
            <a:ext cx="50292" cy="969264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27264" y="5340096"/>
            <a:ext cx="3566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Market baseline: 12.2% two-year CAGR. Anything above the line gains share of the therapy area.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WHERE ELSE, AND WHERE TO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8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Five franchises are underpenetrated and reachable.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Four positions should be harvested, not defended.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7843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Penetration index is Cipla's share of a space against its 1.68% share of the therapy area.</a:t>
            </a:r>
          </a:p>
        </p:txBody>
      </p:sp>
      <p:pic>
        <p:nvPicPr>
          <p:cNvPr id="7" name="Picture 6" descr="whitespace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84831"/>
            <a:ext cx="5943600" cy="29308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12064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 i="0">
                <a:solidFill>
                  <a:srgbClr val="54677D"/>
                </a:solidFill>
                <a:latin typeface="Calibri"/>
              </a:rPr>
              <a:t>Every one has a Cipla molecule or brand behind it, which is what separates a target from a wish. Reaching fair share across the five is worth roughly 137 crore.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9984" y="210312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B4552D"/>
                </a:solidFill>
                <a:latin typeface="Calibri"/>
              </a:rPr>
              <a:t>STOP FUNDING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9984" y="2432304"/>
            <a:ext cx="4937760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9984" y="2432304"/>
            <a:ext cx="50292" cy="969264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56032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1" i="0">
                <a:solidFill>
                  <a:srgbClr val="1C2733"/>
                </a:solidFill>
                <a:latin typeface="Georgia"/>
              </a:rPr>
              <a:t>AHT Diuretic Comb.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834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4677D"/>
                </a:solidFill>
                <a:latin typeface="Calibri"/>
              </a:rPr>
              <a:t>Reported growth is positive, real demand and volume are both negative. Cipla is declining inside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1552" y="2560320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B4552D"/>
                </a:solidFill>
                <a:latin typeface="Calibri"/>
              </a:rPr>
              <a:t>real -1.0%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9984" y="3511296"/>
            <a:ext cx="4937760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9984" y="3511296"/>
            <a:ext cx="50292" cy="969264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8" y="363931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1" i="0">
                <a:solidFill>
                  <a:srgbClr val="1C2733"/>
                </a:solidFill>
                <a:latin typeface="Georgia"/>
              </a:rPr>
              <a:t>ACEi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391363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4677D"/>
                </a:solidFill>
                <a:latin typeface="Calibri"/>
              </a:rPr>
              <a:t>Real growth is negative. Structural decline, not a cycle.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1552" y="3639312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B4552D"/>
                </a:solidFill>
                <a:latin typeface="Calibri"/>
              </a:rPr>
              <a:t>real -5.5%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9984" y="4590288"/>
            <a:ext cx="4937760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9984" y="4590288"/>
            <a:ext cx="50292" cy="969264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47183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1" i="0">
                <a:solidFill>
                  <a:srgbClr val="1C2733"/>
                </a:solidFill>
                <a:latin typeface="Georgia"/>
              </a:rPr>
              <a:t>Oth. Lipid 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4992624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4677D"/>
                </a:solidFill>
                <a:latin typeface="Calibri"/>
              </a:rPr>
              <a:t>Fastest growth in the market and the most closed. In-license or leave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31552" y="471830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B4552D"/>
                </a:solidFill>
                <a:latin typeface="Calibri"/>
              </a:rPr>
              <a:t>real +35.8%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9984" y="5687568"/>
            <a:ext cx="4937760" cy="658368"/>
          </a:xfrm>
          <a:prstGeom prst="rect">
            <a:avLst/>
          </a:prstGeom>
          <a:solidFill>
            <a:srgbClr val="E4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29984" y="5687568"/>
            <a:ext cx="50292" cy="658368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5815584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The portfolio is optimised for a market that has already moved. Concentrating on two configurations beats defending nine.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446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What happens, and in what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8727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Sequenced so the shorter-cycle move funds attention for the longer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12848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50292" cy="32004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1F6F6B"/>
                </a:solidFill>
                <a:latin typeface="Calibri"/>
              </a:rPr>
              <a:t>MONTHS 0-12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305409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 i="0">
                <a:solidFill>
                  <a:srgbClr val="1C2733"/>
                </a:solidFill>
                <a:latin typeface="Georgia"/>
              </a:rPr>
              <a:t>Scale the ezetimibe extension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511296"/>
            <a:ext cx="45720" cy="128016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456432"/>
            <a:ext cx="29077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Rosulip EZ is launched. The constraint is share of voice, not development.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69664"/>
            <a:ext cx="45720" cy="128016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14800"/>
            <a:ext cx="29077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The space grew 88 per cent last year and twelve companies entered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828032"/>
            <a:ext cx="45720" cy="128016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773168"/>
            <a:ext cx="29077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Share allocated in the next eighteen months will be hard to take 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6" y="2212848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256" y="2212848"/>
            <a:ext cx="50292" cy="3200400"/>
          </a:xfrm>
          <a:prstGeom prst="rect">
            <a:avLst/>
          </a:prstGeom>
          <a:solidFill>
            <a:srgbClr val="54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239572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54677D"/>
                </a:solidFill>
                <a:latin typeface="Calibri"/>
              </a:rPr>
              <a:t>MONTHS 12-24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670048"/>
            <a:ext cx="305409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 i="0">
                <a:solidFill>
                  <a:srgbClr val="1C2733"/>
                </a:solidFill>
                <a:latin typeface="Georgia"/>
              </a:rPr>
              <a:t>Build the cilnidipine combination 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90288" y="3511296"/>
            <a:ext cx="45720" cy="128016"/>
          </a:xfrm>
          <a:prstGeom prst="rect">
            <a:avLst/>
          </a:prstGeom>
          <a:solidFill>
            <a:srgbClr val="54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456432"/>
            <a:ext cx="29077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File and launch a cilnidipine plus telmisartan pack under Cresar.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0288" y="4169664"/>
            <a:ext cx="45720" cy="128016"/>
          </a:xfrm>
          <a:prstGeom prst="rect">
            <a:avLst/>
          </a:prstGeom>
          <a:solidFill>
            <a:srgbClr val="54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114800"/>
            <a:ext cx="29077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Follow with a chlortalidone triple, where no player holds above a quarter.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0288" y="4828032"/>
            <a:ext cx="45720" cy="128016"/>
          </a:xfrm>
          <a:prstGeom prst="rect">
            <a:avLst/>
          </a:prstGeom>
          <a:solidFill>
            <a:srgbClr val="54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773168"/>
            <a:ext cx="29077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Formulation risk is low; every component is already manufactured.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1584" y="2212848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1584" y="2212848"/>
            <a:ext cx="50292" cy="3200400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239572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B4552D"/>
                </a:solidFill>
                <a:latin typeface="Calibri"/>
              </a:rPr>
              <a:t>CONTINUOUS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2670048"/>
            <a:ext cx="305409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 i="0">
                <a:solidFill>
                  <a:srgbClr val="1C2733"/>
                </a:solidFill>
                <a:latin typeface="Georgia"/>
              </a:rPr>
              <a:t>Release the funding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57616" y="3511296"/>
            <a:ext cx="45720" cy="128016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2208" y="3456432"/>
            <a:ext cx="29077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Defend Amlopres and Amlopres-AT efficiently, without expansion.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57616" y="4169664"/>
            <a:ext cx="45720" cy="128016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4114800"/>
            <a:ext cx="29077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Harvest Cresar-H and Ramipres rather than defending them with new spend.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57616" y="4828032"/>
            <a:ext cx="45720" cy="128016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8" y="4773168"/>
            <a:ext cx="29077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4677D"/>
                </a:solidFill>
                <a:latin typeface="Calibri"/>
              </a:rPr>
              <a:t>Redeploy field-force time from declining diuretic combinations.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650992"/>
            <a:ext cx="11064240" cy="694944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650992"/>
            <a:ext cx="50292" cy="694944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7972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Two things would have to be checked before committing: freedom to operate on each combination, and whether the field-force economics support a share build against sub-segments carrying more than a hundred competing companies.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48256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E4EEED"/>
                </a:solidFill>
                <a:latin typeface="Calibri"/>
              </a:rPr>
              <a:t>THE IMPLICATION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450592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Cipla cannot win this market by covering it.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It can win two configurations inside it,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both next to brands it already owns.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443984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00" b="0" i="0">
                <a:solidFill>
                  <a:srgbClr val="B9C6D1"/>
                </a:solidFill>
                <a:latin typeface="Calibri"/>
              </a:rPr>
              <a:t>And it should stop funding the legacy positions that make the portfolio look broader than its right to win actually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APPENDIX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446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The prioritisation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8727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Every weight lives in a configuration file, so a challenge is answered by editing one number and re-running.</a:t>
            </a:r>
          </a:p>
        </p:txBody>
      </p:sp>
      <p:pic>
        <p:nvPicPr>
          <p:cNvPr id="7" name="Picture 6" descr="pillar-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03120"/>
            <a:ext cx="5806440" cy="37078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0256" y="2139696"/>
            <a:ext cx="167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Pillar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6656" y="2139696"/>
            <a:ext cx="67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7216" y="2139696"/>
            <a:ext cx="268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6620256" y="2468880"/>
            <a:ext cx="5029200" cy="12801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2560320"/>
            <a:ext cx="15666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C2733"/>
                </a:solidFill>
                <a:latin typeface="Calibri"/>
              </a:rPr>
              <a:t>Market attractiveness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6656" y="2560320"/>
            <a:ext cx="5608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34%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7216" y="2560320"/>
            <a:ext cx="25725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Size, value added, two-year 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163824"/>
            <a:ext cx="15666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C2733"/>
                </a:solidFill>
                <a:latin typeface="Calibri"/>
              </a:rPr>
              <a:t>Future potential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6656" y="3163824"/>
            <a:ext cx="5608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7216" y="3163824"/>
            <a:ext cx="25725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Constant-price and volume growth, momentum,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3767328"/>
            <a:ext cx="15666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C2733"/>
                </a:solidFill>
                <a:latin typeface="Calibri"/>
              </a:rPr>
              <a:t>Competitive headroom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6656" y="3767328"/>
            <a:ext cx="5608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26%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7216" y="3767328"/>
            <a:ext cx="25725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HHI, leader share, crowding, price erosion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4370832"/>
            <a:ext cx="15666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C2733"/>
                </a:solidFill>
                <a:latin typeface="Calibri"/>
              </a:rPr>
              <a:t>Right to 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656" y="4370832"/>
            <a:ext cx="5608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7216" y="4370832"/>
            <a:ext cx="25725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Share, momentum, molecule and brand adjacency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502920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F6F6B"/>
                </a:solidFill>
                <a:latin typeface="Calibri"/>
              </a:rPr>
              <a:t>THE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5340096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 i="0">
                <a:solidFill>
                  <a:srgbClr val="54677D"/>
                </a:solidFill>
                <a:latin typeface="Calibri"/>
              </a:rPr>
              <a:t>Cipla Priority Score = Market Opportunity Index x gate(right to win), where the gate runs from 0.35 to 1.00 on a curve that punishes weak right to win harder than linearly. A multiplier cannot let an inaccessible space outrank a winnable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APPENDIX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446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How much survives a different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8727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Every weight block redrawn from a Dirichlet distribution and the market re-scored 500 times.</a:t>
            </a:r>
          </a:p>
        </p:txBody>
      </p:sp>
      <p:pic>
        <p:nvPicPr>
          <p:cNvPr id="7" name="Picture 6" descr="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03120"/>
            <a:ext cx="6035040" cy="29077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2194560"/>
            <a:ext cx="270821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Sub-segment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66214" y="2194560"/>
            <a:ext cx="10416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In top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834" y="2194560"/>
            <a:ext cx="10416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Mean rank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523744"/>
            <a:ext cx="4791456" cy="12801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615184"/>
            <a:ext cx="259848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Statins Comb.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6214" y="2615184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F6F6B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834" y="2615184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1.11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999232"/>
            <a:ext cx="259848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AHT Triple / Poly Comb.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66214" y="2999232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F6F6B"/>
                </a:solidFill>
                <a:latin typeface="Calibri"/>
              </a:rPr>
              <a:t>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834" y="2999232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1.91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383280"/>
            <a:ext cx="259848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Statins 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6214" y="3383280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F6F6B"/>
                </a:solidFill>
                <a:latin typeface="Calibri"/>
              </a:rPr>
              <a:t>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834" y="3383280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3.31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67328"/>
            <a:ext cx="259848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AHT Dual Comb.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6214" y="3767328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F6F6B"/>
                </a:solidFill>
                <a:latin typeface="Calibri"/>
              </a:rPr>
              <a:t>32%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834" y="3767328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3.70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151376"/>
            <a:ext cx="259848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Oth. Lipid 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6214" y="4151376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F6F6B"/>
                </a:solidFill>
                <a:latin typeface="Calibri"/>
              </a:rP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834" y="4151376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5.23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754880"/>
            <a:ext cx="479145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 i="0">
                <a:solidFill>
                  <a:srgbClr val="54677D"/>
                </a:solidFill>
                <a:latin typeface="Calibri"/>
              </a:rPr>
              <a:t>Above 80 per cent the recommendation survives almost any reasonable weighting. Below 60 per cent it is a judgement call, and is presented as one. The two priorities on slide two sit at the top of this table; the fourth and fifth entries of the wider shortlist do not, and are named as candidates rather than conclusions.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APPENDIX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446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Sources for external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8727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14 signals, each with a publisher and an access date. Four are analysis of the supplied dataset and are labelled as such.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21408"/>
            <a:ext cx="5823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9256" y="2121408"/>
            <a:ext cx="652207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1334" y="2121408"/>
            <a:ext cx="395983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Publisher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50592"/>
            <a:ext cx="11064240" cy="12801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9256" y="2542032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Roughly one in four Indian adults is hypertensive, 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1334" y="2542032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National Family Health Survey-5 (NFHS-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843784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9256" y="2843784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The "75/25" initiative is putting tens of millions of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334" y="2843784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Ministry of Health and Family Welfare,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145536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9256" y="3145536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Indian lipid guidelines put ezetimibe combinations in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334" y="3145536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Lipid Association of India, Journal 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447288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9256" y="3447288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Air pollution is a first-order cardiovascular risk fac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334" y="3447288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The Lancet Planetary Health; Harvard 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749040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9256" y="3749040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Inclisiran has entered India at premium pricing throug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334" y="3749040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Novartis; reported by ChemXpert and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050792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9256" y="4050792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Saroglitazar is an originator-controlled Indian NCE, 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1334" y="4050792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Zydus Lifesciences; New Drug Approvals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352544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9256" y="4352544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Price control caps the value upside on essential cardi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334" y="4352544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Ministry of Health and Family Welfare;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654296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9256" y="4654296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Indian hypertension guidance favours early combination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71334" y="4654296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Indian Society of Hypertension (InSH);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956048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9256" y="4956048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Cardiovascular disease carries a disproportionate shar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71334" y="4956048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Peer-reviewed literature on India's 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257800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9256" y="5257800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Bempedoic acid is the next non-statin LDL step and is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71334" y="5257800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Korean Society of Lipid and Atheroscle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8704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Signal influence is bounded. Confidence discounts magnitude, agreement within a category is damped, and the resulting tilt is centred within each level, so a signal that applies to everything moves nothing. The multiplier is clipped to 0.80 to 1.25 on one metric inside one pillar.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583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B4552D"/>
                </a:solidFill>
                <a:latin typeface="Calibri"/>
              </a:rPr>
              <a:t>APPENDIX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What this analysis cannot tell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029968"/>
            <a:ext cx="45720" cy="182880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751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Two years of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1975104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B9C6D1"/>
                </a:solidFill>
                <a:latin typeface="Calibri"/>
              </a:rPr>
              <a:t>Two annual observations support a direction, not a cycle. Five-year projections are structured extrapolation with an explicit mean-reversion assumption.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889504"/>
            <a:ext cx="45720" cy="182880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8346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No patent or regulatory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83464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B9C6D1"/>
                </a:solidFill>
                <a:latin typeface="Calibri"/>
              </a:rPr>
              <a:t>The framework can see that a space is originator-dominated. It cannot say whether entry is legally possible. Any entry decision needs a freedom-to-operate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749040"/>
            <a:ext cx="45720" cy="182880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6941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No cost or margin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3694176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B9C6D1"/>
                </a:solidFill>
                <a:latin typeface="Calibri"/>
              </a:rPr>
              <a:t>Every conclusion is about revenue opportunity. Whether a space is profitable to enter is not answerable 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608576"/>
            <a:ext cx="45720" cy="182880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45537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Retail audit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4553712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B9C6D1"/>
                </a:solidFill>
                <a:latin typeface="Calibri"/>
              </a:rPr>
              <a:t>Institutional and government-tender channels are absent, which matters given the scale of public screening programmes.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5468112"/>
            <a:ext cx="45720" cy="182880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54132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Curated external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5413248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B9C6D1"/>
                </a:solidFill>
                <a:latin typeface="Calibri"/>
              </a:rPr>
              <a:t>Fourteen documents chosen for relevance, not a systematic review. Their influence is bounded by design for exactly that reason.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309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1">
                <a:solidFill>
                  <a:srgbClr val="7D8A99"/>
                </a:solidFill>
                <a:latin typeface="Calibri"/>
              </a:rPr>
              <a:t>Stated here rather than buried, because the recommendations should be read against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